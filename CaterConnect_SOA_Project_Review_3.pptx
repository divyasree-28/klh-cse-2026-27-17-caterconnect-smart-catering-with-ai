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548640"/>
            <a:ext cx="1828800" cy="1828800"/>
          </a:xfrm>
          <a:prstGeom prst="ellipse">
            <a:avLst/>
          </a:prstGeom>
          <a:solidFill>
            <a:srgbClr val="1B3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61320" y="2011680"/>
            <a:ext cx="1143000" cy="1143000"/>
          </a:xfrm>
          <a:prstGeom prst="ellipse">
            <a:avLst/>
          </a:prstGeom>
          <a:solidFill>
            <a:srgbClr val="2A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0" y="2834640"/>
            <a:ext cx="2468880" cy="2468880"/>
          </a:xfrm>
          <a:prstGeom prst="ellipse">
            <a:avLst/>
          </a:prstGeom>
          <a:solidFill>
            <a:srgbClr val="1B3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49840" y="4114800"/>
            <a:ext cx="1463040" cy="1463040"/>
          </a:xfrm>
          <a:prstGeom prst="ellipse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640080"/>
            <a:ext cx="1554480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658368"/>
            <a:ext cx="148132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A25"/>
                </a:solidFill>
                <a:latin typeface="Aptos"/>
              </a:rPr>
              <a:t>REVIEW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804672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CaterConnect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8880"/>
            <a:ext cx="78638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D5EBDE"/>
                </a:solidFill>
                <a:latin typeface="Aptos"/>
              </a:rPr>
              <a:t>An Agentic AI-Powered Catering Booking and Surplus Food Redistribution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8046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Y. Paavana Pranavasri  |  2420030554
A. Divya Sree  |  2420030416
B. Yaswanth  |  2420030392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7772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5EBDE"/>
                </a:solidFill>
                <a:latin typeface="Aptos"/>
              </a:rPr>
              <a:t>Project Guide: K. Venkateswari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080760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 i="0">
                <a:solidFill>
                  <a:srgbClr val="D5EBDE"/>
                </a:solidFill>
                <a:latin typeface="Aptos"/>
              </a:rPr>
              <a:t>CATERING • COORDINATION •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A6853"/>
                </a:solidFill>
                <a:latin typeface="Aptos"/>
              </a:rPr>
              <a:t>01 •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A25"/>
                </a:solidFill>
                <a:latin typeface="Aptos"/>
              </a:rPr>
              <a:t>Project Overview &amp; Review 3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65766D"/>
                </a:solidFill>
                <a:latin typeface="Aptos"/>
              </a:rP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0292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22A25"/>
                </a:solidFill>
                <a:latin typeface="Aptos"/>
              </a:rPr>
              <a:t>One connected workflow for catering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493776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3312C"/>
                </a:solidFill>
                <a:latin typeface="Aptos"/>
              </a:rPr>
              <a:t>CaterConnect helps customers discover suitable caterers, compare menu options, and manage catering bookings through a role-based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371600"/>
            <a:ext cx="1828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97880" y="1371600"/>
            <a:ext cx="73152" cy="1508760"/>
          </a:xfrm>
          <a:prstGeom prst="rect">
            <a:avLst/>
          </a:prstGeom>
          <a:solidFill>
            <a:srgbClr val="2A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9048" y="1527048"/>
            <a:ext cx="14813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938528"/>
            <a:ext cx="1481328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5766D"/>
                </a:solidFill>
                <a:latin typeface="Aptos"/>
              </a:rPr>
              <a:t>Find options, receive recommendations and book catering.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371600"/>
            <a:ext cx="1828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9560" y="1371600"/>
            <a:ext cx="73152" cy="1508760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8" y="1527048"/>
            <a:ext cx="14813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CATERER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1938528"/>
            <a:ext cx="1481328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5766D"/>
                </a:solidFill>
                <a:latin typeface="Aptos"/>
              </a:rPr>
              <a:t>Manage menus, availability and booking requests.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40" y="1371600"/>
            <a:ext cx="1691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921240" y="1371600"/>
            <a:ext cx="73152" cy="1508760"/>
          </a:xfrm>
          <a:prstGeom prst="rect">
            <a:avLst/>
          </a:prstGeom>
          <a:solidFill>
            <a:srgbClr val="40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22408" y="1527048"/>
            <a:ext cx="13441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22408" y="1938528"/>
            <a:ext cx="1344168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5766D"/>
                </a:solidFill>
                <a:latin typeface="Aptos"/>
              </a:rPr>
              <a:t>Oversee platform activity and coordination.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37560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22A25"/>
                </a:solidFill>
                <a:latin typeface="Aptos"/>
              </a:rPr>
              <a:t>Review 3 demonstrates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10789920" cy="196596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312C"/>
                </a:solidFill>
                <a:latin typeface="Aptos"/>
              </a:defRPr>
            </a:pPr>
            <a:r>
              <a:t>End-to-end booking workflow across customer, caterer and admin roles</a:t>
            </a:r>
          </a:p>
          <a:p>
            <a:pPr>
              <a:spcAft>
                <a:spcPts val="800"/>
              </a:spcAft>
              <a:defRPr sz="1600">
                <a:solidFill>
                  <a:srgbClr val="23312C"/>
                </a:solidFill>
                <a:latin typeface="Aptos"/>
              </a:defRPr>
            </a:pPr>
            <a:r>
              <a:t>Agentic AI-supported requirement understanding and recommendations</a:t>
            </a:r>
          </a:p>
          <a:p>
            <a:pPr>
              <a:spcAft>
                <a:spcPts val="800"/>
              </a:spcAft>
              <a:defRPr sz="1600">
                <a:solidFill>
                  <a:srgbClr val="23312C"/>
                </a:solidFill>
                <a:latin typeface="Aptos"/>
              </a:defRPr>
            </a:pPr>
            <a:r>
              <a:t>Service coordination for menu, availability, booking and notifications</a:t>
            </a:r>
          </a:p>
          <a:p>
            <a:pPr>
              <a:spcAft>
                <a:spcPts val="800"/>
              </a:spcAft>
              <a:defRPr sz="1600">
                <a:solidFill>
                  <a:srgbClr val="23312C"/>
                </a:solidFill>
                <a:latin typeface="Aptos"/>
              </a:defRPr>
            </a:pPr>
            <a:r>
              <a:t>Secondary workflow for surplus-food listing and matching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A6853"/>
                </a:solidFill>
                <a:latin typeface="Aptos"/>
              </a:rPr>
              <a:t>02 •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A25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65766D"/>
                </a:solidFill>
                <a:latin typeface="Aptos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5766D"/>
                </a:solidFill>
                <a:latin typeface="Aptos"/>
              </a:rPr>
              <a:t>A layered view of how the user interface, AI workflow and service modules coordinate.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828800"/>
            <a:ext cx="102412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938528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2A25"/>
                </a:solidFill>
                <a:latin typeface="Aptos"/>
              </a:rP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38528"/>
            <a:ext cx="7315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312C"/>
                </a:solidFill>
                <a:latin typeface="Aptos"/>
              </a:rPr>
              <a:t>Customer • Caterer • Admin dashboards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560320"/>
            <a:ext cx="0" cy="201168"/>
          </a:xfrm>
          <a:prstGeom prst="line">
            <a:avLst/>
          </a:prstGeom>
          <a:ln w="2286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2852928"/>
            <a:ext cx="102412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962656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A6853"/>
                </a:solidFill>
                <a:latin typeface="Aptos"/>
              </a:rPr>
              <a:t>AGENTIC AI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62656"/>
            <a:ext cx="7315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312C"/>
                </a:solidFill>
                <a:latin typeface="Aptos"/>
              </a:rPr>
              <a:t>Understand requirements • compare options • recommend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584448"/>
            <a:ext cx="0" cy="201168"/>
          </a:xfrm>
          <a:prstGeom prst="line">
            <a:avLst/>
          </a:prstGeom>
          <a:ln w="2286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" y="3877056"/>
            <a:ext cx="102412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A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986784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FA752"/>
                </a:solidFill>
                <a:latin typeface="Aptos"/>
              </a:rPr>
              <a:t>SOA SERVICE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986784"/>
            <a:ext cx="7315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312C"/>
                </a:solidFill>
                <a:latin typeface="Aptos"/>
              </a:rPr>
              <a:t>Caterer • Menu • Availability • Booking • Payment • Notification • Surplus • Matching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4608576"/>
            <a:ext cx="0" cy="201168"/>
          </a:xfrm>
          <a:prstGeom prst="line">
            <a:avLst/>
          </a:prstGeom>
          <a:ln w="2286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0120" y="4901184"/>
            <a:ext cx="102412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06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010912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06B8C"/>
                </a:solidFill>
                <a:latin typeface="Aptos"/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010912"/>
            <a:ext cx="7315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312C"/>
                </a:solidFill>
                <a:latin typeface="Aptos"/>
              </a:rPr>
              <a:t>Caterers.csv • menu_pricing.csv • food_surplus.csv • organizations.csv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A6853"/>
                </a:solidFill>
                <a:latin typeface="Aptos"/>
              </a:rPr>
              <a:t>03 •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A25"/>
                </a:solidFill>
                <a:latin typeface="Aptos"/>
              </a:rPr>
              <a:t>Agentic AI: From Requirements to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65766D"/>
                </a:solidFill>
                <a:latin typeface="Aptos"/>
              </a:rP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66928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618488"/>
            <a:ext cx="493776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A25"/>
                </a:solidFill>
                <a:latin typeface="Aptos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187451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057400"/>
            <a:ext cx="73152" cy="2057400"/>
          </a:xfrm>
          <a:prstGeom prst="rect">
            <a:avLst/>
          </a:prstGeom>
          <a:solidFill>
            <a:srgbClr val="2A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212848"/>
            <a:ext cx="15270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24328"/>
            <a:ext cx="1527048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5766D"/>
                </a:solidFill>
                <a:latin typeface="Aptos"/>
              </a:rPr>
              <a:t>Customer enters event type, date, guest count, cuisine and budget.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96312" y="3063240"/>
            <a:ext cx="310896" cy="0"/>
          </a:xfrm>
          <a:prstGeom prst="line">
            <a:avLst/>
          </a:prstGeom>
          <a:ln w="2286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80360" y="1600200"/>
            <a:ext cx="566928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16936" y="1618488"/>
            <a:ext cx="493776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A25"/>
                </a:solidFill>
                <a:latin typeface="Aptos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057400"/>
            <a:ext cx="187451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80360" y="2057400"/>
            <a:ext cx="73152" cy="2057400"/>
          </a:xfrm>
          <a:prstGeom prst="rect">
            <a:avLst/>
          </a:prstGeom>
          <a:solidFill>
            <a:srgbClr val="40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81528" y="2212848"/>
            <a:ext cx="15270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UNDERSTAND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2624328"/>
            <a:ext cx="1527048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5766D"/>
                </a:solidFill>
                <a:latin typeface="Aptos"/>
              </a:rPr>
              <a:t>The workflow interprets the request and identifies key constraints.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82312" y="3063240"/>
            <a:ext cx="310896" cy="0"/>
          </a:xfrm>
          <a:prstGeom prst="line">
            <a:avLst/>
          </a:prstGeom>
          <a:ln w="2286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66360" y="1600200"/>
            <a:ext cx="566928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02936" y="1618488"/>
            <a:ext cx="493776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A25"/>
                </a:solidFill>
                <a:latin typeface="Aptos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2057400"/>
            <a:ext cx="187451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66360" y="2057400"/>
            <a:ext cx="73152" cy="2057400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67528" y="2212848"/>
            <a:ext cx="15270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RETRIEVE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2624328"/>
            <a:ext cx="1527048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5766D"/>
                </a:solidFill>
                <a:latin typeface="Aptos"/>
              </a:rPr>
              <a:t>Relevant caterers, menus, prices and availability are gathered.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68312" y="3063240"/>
            <a:ext cx="310896" cy="0"/>
          </a:xfrm>
          <a:prstGeom prst="line">
            <a:avLst/>
          </a:prstGeom>
          <a:ln w="2286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52360" y="1600200"/>
            <a:ext cx="566928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88936" y="1618488"/>
            <a:ext cx="493776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A25"/>
                </a:solidFill>
                <a:latin typeface="Aptos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2057400"/>
            <a:ext cx="187451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52360" y="2057400"/>
            <a:ext cx="73152" cy="2057400"/>
          </a:xfrm>
          <a:prstGeom prst="rect">
            <a:avLst/>
          </a:prstGeom>
          <a:solidFill>
            <a:srgbClr val="2A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53528" y="2212848"/>
            <a:ext cx="15270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3528" y="2624328"/>
            <a:ext cx="1527048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5766D"/>
                </a:solidFill>
                <a:latin typeface="Aptos"/>
              </a:rPr>
              <a:t>Options are filtered and compared against the customer’s needs.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54312" y="3063240"/>
            <a:ext cx="310896" cy="0"/>
          </a:xfrm>
          <a:prstGeom prst="line">
            <a:avLst/>
          </a:prstGeom>
          <a:ln w="2286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738360" y="1600200"/>
            <a:ext cx="566928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74936" y="1618488"/>
            <a:ext cx="493776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A25"/>
                </a:solidFill>
                <a:latin typeface="Aptos"/>
              </a:rPr>
              <a:t>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38360" y="2057400"/>
            <a:ext cx="187451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738360" y="2057400"/>
            <a:ext cx="73152" cy="2057400"/>
          </a:xfrm>
          <a:prstGeom prst="rect">
            <a:avLst/>
          </a:prstGeom>
          <a:solidFill>
            <a:srgbClr val="12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39528" y="2212848"/>
            <a:ext cx="15270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RECOMMEND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39528" y="2624328"/>
            <a:ext cx="1527048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5766D"/>
                </a:solidFill>
                <a:latin typeface="Aptos"/>
              </a:rPr>
              <a:t>Suitable choices are presented for customer review and booking.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61772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A25"/>
                </a:solidFill>
                <a:latin typeface="Aptos"/>
              </a:rPr>
              <a:t>Why it matters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074920"/>
            <a:ext cx="1060704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3312C"/>
                </a:solidFill>
                <a:latin typeface="Aptos"/>
              </a:rPr>
              <a:t>It reduces manual searching and helps customers compare choices using practical constraints such as budget, event needs and availability. Recommendations should remain reviewable by the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A6853"/>
                </a:solidFill>
                <a:latin typeface="Aptos"/>
              </a:rPr>
              <a:t>04 •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A25"/>
                </a:solidFill>
                <a:latin typeface="Aptos"/>
              </a:rPr>
              <a:t>Service-Oriented Architecture (SOA)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65766D"/>
                </a:solidFill>
                <a:latin typeface="Aptos"/>
              </a:rPr>
              <a:t>05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2880360" cy="438912"/>
          </a:xfrm>
          <a:prstGeom prst="rect">
            <a:avLst/>
          </a:prstGeom>
          <a:solidFill>
            <a:srgbClr val="12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1325880"/>
            <a:ext cx="7955279" cy="438912"/>
          </a:xfrm>
          <a:prstGeom prst="rect">
            <a:avLst/>
          </a:prstGeom>
          <a:solidFill>
            <a:srgbClr val="12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99" y="1399032"/>
            <a:ext cx="772667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RESPONSIBILITY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64792"/>
            <a:ext cx="28803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2651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2A25"/>
                </a:solidFill>
                <a:latin typeface="Aptos"/>
              </a:rPr>
              <a:t>Caterer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39" y="1764792"/>
            <a:ext cx="7955279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599" y="1874519"/>
            <a:ext cx="772667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12C"/>
                </a:solidFill>
                <a:latin typeface="Aptos"/>
              </a:rPr>
              <a:t>Caterer profiles and service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286000"/>
            <a:ext cx="2880360" cy="521207"/>
          </a:xfrm>
          <a:prstGeom prst="rect">
            <a:avLst/>
          </a:prstGeom>
          <a:solidFill>
            <a:srgbClr val="EBF1E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395728"/>
            <a:ext cx="2651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2A25"/>
                </a:solidFill>
                <a:latin typeface="Aptos"/>
              </a:rPr>
              <a:t>Menu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39" y="2286000"/>
            <a:ext cx="7955279" cy="521207"/>
          </a:xfrm>
          <a:prstGeom prst="rect">
            <a:avLst/>
          </a:prstGeom>
          <a:solidFill>
            <a:srgbClr val="EBF1E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599" y="2395728"/>
            <a:ext cx="772667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12C"/>
                </a:solidFill>
                <a:latin typeface="Aptos"/>
              </a:rPr>
              <a:t>Menu items, packages and pricing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07208"/>
            <a:ext cx="28803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916936"/>
            <a:ext cx="2651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2A25"/>
                </a:solidFill>
                <a:latin typeface="Aptos"/>
              </a:rPr>
              <a:t>Availability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39" y="2807208"/>
            <a:ext cx="7955279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599" y="2916936"/>
            <a:ext cx="772667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12C"/>
                </a:solidFill>
                <a:latin typeface="Aptos"/>
              </a:rPr>
              <a:t>Date/time availability checks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28415"/>
            <a:ext cx="2880360" cy="521207"/>
          </a:xfrm>
          <a:prstGeom prst="rect">
            <a:avLst/>
          </a:prstGeom>
          <a:solidFill>
            <a:srgbClr val="EBF1E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438144"/>
            <a:ext cx="2651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2A25"/>
                </a:solidFill>
                <a:latin typeface="Aptos"/>
              </a:rPr>
              <a:t>Booking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39" y="3328415"/>
            <a:ext cx="7955279" cy="521207"/>
          </a:xfrm>
          <a:prstGeom prst="rect">
            <a:avLst/>
          </a:prstGeom>
          <a:solidFill>
            <a:srgbClr val="EBF1E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599" y="3438144"/>
            <a:ext cx="772667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12C"/>
                </a:solidFill>
                <a:latin typeface="Aptos"/>
              </a:rPr>
              <a:t>Booking creation and status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849624"/>
            <a:ext cx="28803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3959352"/>
            <a:ext cx="2651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2A25"/>
                </a:solidFill>
                <a:latin typeface="Aptos"/>
              </a:rPr>
              <a:t>Payment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39" y="3849624"/>
            <a:ext cx="7955279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599" y="3959352"/>
            <a:ext cx="772667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12C"/>
                </a:solidFill>
                <a:latin typeface="Aptos"/>
              </a:rPr>
              <a:t>Payment-related booking records or 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70831"/>
            <a:ext cx="2880360" cy="521207"/>
          </a:xfrm>
          <a:prstGeom prst="rect">
            <a:avLst/>
          </a:prstGeom>
          <a:solidFill>
            <a:srgbClr val="EBF1E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4480559"/>
            <a:ext cx="2651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2A25"/>
                </a:solidFill>
                <a:latin typeface="Aptos"/>
              </a:rPr>
              <a:t>Notification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39" y="4370831"/>
            <a:ext cx="7955279" cy="521207"/>
          </a:xfrm>
          <a:prstGeom prst="rect">
            <a:avLst/>
          </a:prstGeom>
          <a:solidFill>
            <a:srgbClr val="EBF1E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599" y="4480559"/>
            <a:ext cx="772667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12C"/>
                </a:solidFill>
                <a:latin typeface="Aptos"/>
              </a:rPr>
              <a:t>Booking and workflow updates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92040"/>
            <a:ext cx="28803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5001768"/>
            <a:ext cx="2651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2A25"/>
                </a:solidFill>
                <a:latin typeface="Aptos"/>
              </a:rPr>
              <a:t>Surplus Food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39" y="4892040"/>
            <a:ext cx="7955279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599" y="5001768"/>
            <a:ext cx="772667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12C"/>
                </a:solidFill>
                <a:latin typeface="Aptos"/>
              </a:rPr>
              <a:t>Surplus listings and availability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413248"/>
            <a:ext cx="2880360" cy="521207"/>
          </a:xfrm>
          <a:prstGeom prst="rect">
            <a:avLst/>
          </a:prstGeom>
          <a:solidFill>
            <a:srgbClr val="EBF1E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5522976"/>
            <a:ext cx="2651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2A25"/>
                </a:solidFill>
                <a:latin typeface="Aptos"/>
              </a:rPr>
              <a:t>Organization Matching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39" y="5413248"/>
            <a:ext cx="7955279" cy="521207"/>
          </a:xfrm>
          <a:prstGeom prst="rect">
            <a:avLst/>
          </a:prstGeom>
          <a:solidFill>
            <a:srgbClr val="EBF1E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599" y="5522976"/>
            <a:ext cx="772667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12C"/>
                </a:solidFill>
                <a:latin typeface="Aptos"/>
              </a:rPr>
              <a:t>Match surplus listings with suitable recipient organizations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080760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5766D"/>
                </a:solidFill>
                <a:latin typeface="Aptos"/>
              </a:rPr>
              <a:t>SOA separates responsibilities into focused modules, making the workflow easier to maintain and extend.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A6853"/>
                </a:solidFill>
                <a:latin typeface="Aptos"/>
              </a:rPr>
              <a:t>05 •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A25"/>
                </a:solidFill>
                <a:latin typeface="Aptos"/>
              </a:rPr>
              <a:t>Role-Based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65766D"/>
                </a:solidFill>
                <a:latin typeface="Aptos"/>
              </a:rP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3566160"/>
          </a:xfrm>
          <a:prstGeom prst="rect">
            <a:avLst/>
          </a:prstGeom>
          <a:solidFill>
            <a:srgbClr val="2A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72768"/>
            <a:ext cx="31729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84248"/>
            <a:ext cx="3172968" cy="290779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5766D"/>
                </a:solidFill>
                <a:latin typeface="Aptos"/>
              </a:rPr>
              <a:t>1. Sign in
2. Enter event requirements
3. Review AI-supported recommendations
4. Compare caterers and menus
5. Submit and track booking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73152" cy="3566160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572768"/>
            <a:ext cx="31729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CATERER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84248"/>
            <a:ext cx="3172968" cy="290779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5766D"/>
                </a:solidFill>
                <a:latin typeface="Aptos"/>
              </a:rPr>
              <a:t>1. Sign in to caterer dashboard
2. Maintain profile and menu details
3. Update availability
4. Review booking requests
5. Update booking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3566160"/>
          </a:xfrm>
          <a:prstGeom prst="rect">
            <a:avLst/>
          </a:prstGeom>
          <a:solidFill>
            <a:srgbClr val="40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572768"/>
            <a:ext cx="31729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84248"/>
            <a:ext cx="3172968" cy="290779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5766D"/>
                </a:solidFill>
                <a:latin typeface="Aptos"/>
              </a:rPr>
              <a:t>1. Access admin dashboard
2. Monitor platform records
3. Review user and service activity
4. Support workflow coordination
5. Check overall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1060704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3312C"/>
                </a:solidFill>
                <a:latin typeface="Aptos"/>
              </a:rPr>
              <a:t>The same booking moves through connected roles, reducing disconnected communication and making status easier to follow.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A6853"/>
                </a:solidFill>
                <a:latin typeface="Aptos"/>
              </a:rPr>
              <a:t>06 • SUPPORTING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A25"/>
                </a:solidFill>
                <a:latin typeface="Aptos"/>
              </a:rPr>
              <a:t>Surplus-Food Redistribution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65766D"/>
                </a:solidFill>
                <a:latin typeface="Aptos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698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5766D"/>
                </a:solidFill>
                <a:latin typeface="Aptos"/>
              </a:rPr>
              <a:t>A secondary workflow that helps reduce avoidable food waste after catering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105156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2A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A6853"/>
                </a:solidFill>
                <a:latin typeface="Aptos"/>
              </a:rPr>
              <a:t>01 •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029968"/>
            <a:ext cx="79095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12C"/>
                </a:solidFill>
                <a:latin typeface="Aptos"/>
              </a:rPr>
              <a:t>Caterer records available surplus food and relevant details.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551176"/>
            <a:ext cx="0" cy="192024"/>
          </a:xfrm>
          <a:prstGeom prst="line">
            <a:avLst/>
          </a:prstGeom>
          <a:ln w="1905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2761488"/>
            <a:ext cx="105156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FA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898648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FA752"/>
                </a:solidFill>
                <a:latin typeface="Aptos"/>
              </a:rPr>
              <a:t>02 •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871216"/>
            <a:ext cx="79095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12C"/>
                </a:solidFill>
                <a:latin typeface="Aptos"/>
              </a:rPr>
              <a:t>The system identifies suitable recipient organizations.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392424"/>
            <a:ext cx="0" cy="192024"/>
          </a:xfrm>
          <a:prstGeom prst="line">
            <a:avLst/>
          </a:prstGeom>
          <a:ln w="1905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" y="3602736"/>
            <a:ext cx="105156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06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739896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06B8C"/>
                </a:solidFill>
                <a:latin typeface="Aptos"/>
              </a:rPr>
              <a:t>03 • NOTIFY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712464"/>
            <a:ext cx="79095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12C"/>
                </a:solidFill>
                <a:latin typeface="Aptos"/>
              </a:rPr>
              <a:t>The relevant organization receives the listing/update.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4233672"/>
            <a:ext cx="0" cy="192024"/>
          </a:xfrm>
          <a:prstGeom prst="line">
            <a:avLst/>
          </a:prstGeom>
          <a:ln w="1905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4443984"/>
            <a:ext cx="105156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12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581144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2A25"/>
                </a:solidFill>
                <a:latin typeface="Aptos"/>
              </a:rPr>
              <a:t>04 • CONFIRM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553712"/>
            <a:ext cx="79095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3312C"/>
                </a:solidFill>
                <a:latin typeface="Aptos"/>
              </a:rPr>
              <a:t>Collection or handover status is coordinated and updated.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23560"/>
            <a:ext cx="105156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22A25"/>
                </a:solidFill>
                <a:latin typeface="Aptos"/>
              </a:rPr>
              <a:t>Primary project focus remains catering discovery and booking; redistribution complements the main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A6853"/>
                </a:solidFill>
                <a:latin typeface="Aptos"/>
              </a:rPr>
              <a:t>07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A25"/>
                </a:solidFill>
                <a:latin typeface="Aptos"/>
              </a:rPr>
              <a:t>Dataset Preparation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65766D"/>
                </a:solidFill>
                <a:latin typeface="Aptos"/>
              </a:rP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960120"/>
          </a:xfrm>
          <a:prstGeom prst="rect">
            <a:avLst/>
          </a:prstGeom>
          <a:solidFill>
            <a:srgbClr val="2A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72768"/>
            <a:ext cx="48646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Caterers.csv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84248"/>
            <a:ext cx="4864608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5766D"/>
                </a:solidFill>
                <a:latin typeface="Aptos"/>
              </a:rPr>
              <a:t>Caterer profile and service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73152" cy="960120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572768"/>
            <a:ext cx="48646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menu_pricing.csv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984248"/>
            <a:ext cx="4864608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5766D"/>
                </a:solidFill>
                <a:latin typeface="Aptos"/>
              </a:rPr>
              <a:t>Menu options, packages and prices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5176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651760"/>
            <a:ext cx="73152" cy="960120"/>
          </a:xfrm>
          <a:prstGeom prst="rect">
            <a:avLst/>
          </a:prstGeom>
          <a:solidFill>
            <a:srgbClr val="40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2807208"/>
            <a:ext cx="48646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food_surplus.csv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218688"/>
            <a:ext cx="4864608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5766D"/>
                </a:solidFill>
                <a:latin typeface="Aptos"/>
              </a:rPr>
              <a:t>Surplus-food listing details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5176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651760"/>
            <a:ext cx="73152" cy="960120"/>
          </a:xfrm>
          <a:prstGeom prst="rect">
            <a:avLst/>
          </a:prstGeom>
          <a:solidFill>
            <a:srgbClr val="12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8" y="2807208"/>
            <a:ext cx="48646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organizations.csv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218688"/>
            <a:ext cx="4864608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5766D"/>
                </a:solidFill>
                <a:latin typeface="Aptos"/>
              </a:rPr>
              <a:t>Recipient organization 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16052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A25"/>
                </a:solidFill>
                <a:latin typeface="Aptos"/>
              </a:rPr>
              <a:t>Data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709160"/>
            <a:ext cx="960120" cy="329184"/>
          </a:xfrm>
          <a:prstGeom prst="roundRect">
            <a:avLst/>
          </a:prstGeom>
          <a:solidFill>
            <a:srgbClr val="2A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" y="4727448"/>
            <a:ext cx="88696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66360"/>
            <a:ext cx="24688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312C"/>
                </a:solidFill>
                <a:latin typeface="Aptos"/>
              </a:rPr>
              <a:t>Read source records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17520" y="4873752"/>
            <a:ext cx="365760" cy="0"/>
          </a:xfrm>
          <a:prstGeom prst="line">
            <a:avLst/>
          </a:prstGeom>
          <a:ln w="1905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520440" y="4709160"/>
            <a:ext cx="960120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57016" y="4727448"/>
            <a:ext cx="88696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CLEAN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166360"/>
            <a:ext cx="24688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312C"/>
                </a:solidFill>
                <a:latin typeface="Aptos"/>
              </a:rPr>
              <a:t>Check missing or inconsistent values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52160" y="4873752"/>
            <a:ext cx="365760" cy="0"/>
          </a:xfrm>
          <a:prstGeom prst="line">
            <a:avLst/>
          </a:prstGeom>
          <a:ln w="1905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355080" y="4709160"/>
            <a:ext cx="960120" cy="329184"/>
          </a:xfrm>
          <a:prstGeom prst="roundRect">
            <a:avLst/>
          </a:prstGeom>
          <a:solidFill>
            <a:srgbClr val="40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91656" y="4727448"/>
            <a:ext cx="88696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FILTER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166360"/>
            <a:ext cx="24688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312C"/>
                </a:solidFill>
                <a:latin typeface="Aptos"/>
              </a:rPr>
              <a:t>Apply event, budget and availability constraints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86800" y="4873752"/>
            <a:ext cx="365760" cy="0"/>
          </a:xfrm>
          <a:prstGeom prst="line">
            <a:avLst/>
          </a:prstGeom>
          <a:ln w="19050">
            <a:solidFill>
              <a:srgbClr val="CFA7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189720" y="4709160"/>
            <a:ext cx="960120" cy="329184"/>
          </a:xfrm>
          <a:prstGeom prst="roundRect">
            <a:avLst/>
          </a:prstGeom>
          <a:solidFill>
            <a:srgbClr val="12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26296" y="4727448"/>
            <a:ext cx="88696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5166360"/>
            <a:ext cx="24688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3312C"/>
                </a:solidFill>
                <a:latin typeface="Aptos"/>
              </a:rPr>
              <a:t>Support recommendations, booking and matching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080760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5766D"/>
                </a:solidFill>
                <a:latin typeface="Aptos"/>
              </a:rPr>
              <a:t>Dataset names are carried forward from Review 2; report record counts only if confirmed in the current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A6853"/>
                </a:solidFill>
                <a:latin typeface="Aptos"/>
              </a:rPr>
              <a:t>08 •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A25"/>
                </a:solidFill>
                <a:latin typeface="Aptos"/>
              </a:rPr>
              <a:t>Functional Testing &amp;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65766D"/>
                </a:solidFill>
                <a:latin typeface="Aptos"/>
              </a:rPr>
              <a:t>09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2240280" cy="411480"/>
          </a:xfrm>
          <a:prstGeom prst="rect">
            <a:avLst/>
          </a:prstGeom>
          <a:solidFill>
            <a:srgbClr val="12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4475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371600"/>
            <a:ext cx="4114800" cy="411480"/>
          </a:xfrm>
          <a:prstGeom prst="rect">
            <a:avLst/>
          </a:prstGeom>
          <a:solidFill>
            <a:srgbClr val="12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0088" y="1444752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TEST SCENARIO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1371600"/>
            <a:ext cx="4754880" cy="411480"/>
          </a:xfrm>
          <a:prstGeom prst="rect">
            <a:avLst/>
          </a:prstGeom>
          <a:solidFill>
            <a:srgbClr val="12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04888" y="1444752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EXPECTED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783080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1874519"/>
            <a:ext cx="2057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22A25"/>
                </a:solidFill>
                <a:latin typeface="Aptos"/>
              </a:rPr>
              <a:t>Authentication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1783080"/>
            <a:ext cx="4114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90088" y="1874519"/>
            <a:ext cx="3931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Valid and invalid login attempts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1783080"/>
            <a:ext cx="4754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4888" y="1874519"/>
            <a:ext cx="45720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Verify role-specific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404872"/>
            <a:ext cx="2240280" cy="621792"/>
          </a:xfrm>
          <a:prstGeom prst="rect">
            <a:avLst/>
          </a:prstGeom>
          <a:solidFill>
            <a:srgbClr val="EBF1EA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2496312"/>
            <a:ext cx="2057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22A25"/>
                </a:solidFill>
                <a:latin typeface="Aptos"/>
              </a:rPr>
              <a:t>Recommendations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2404872"/>
            <a:ext cx="4114800" cy="621792"/>
          </a:xfrm>
          <a:prstGeom prst="rect">
            <a:avLst/>
          </a:prstGeom>
          <a:solidFill>
            <a:srgbClr val="EBF1EA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0088" y="2496312"/>
            <a:ext cx="3931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Different event/budget inputs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2404872"/>
            <a:ext cx="4754880" cy="621792"/>
          </a:xfrm>
          <a:prstGeom prst="rect">
            <a:avLst/>
          </a:prstGeom>
          <a:solidFill>
            <a:srgbClr val="EBF1EA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04888" y="2496312"/>
            <a:ext cx="45720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Check relevance of suggested options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26664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3118104"/>
            <a:ext cx="2057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22A25"/>
                </a:solidFill>
                <a:latin typeface="Aptos"/>
              </a:rPr>
              <a:t>Availability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026664"/>
            <a:ext cx="4114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90088" y="3118104"/>
            <a:ext cx="3931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Available and unavailable dates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3026664"/>
            <a:ext cx="4754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04888" y="3118104"/>
            <a:ext cx="45720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Ensure unavailable options are not bookable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648456"/>
            <a:ext cx="2240280" cy="621792"/>
          </a:xfrm>
          <a:prstGeom prst="rect">
            <a:avLst/>
          </a:prstGeom>
          <a:solidFill>
            <a:srgbClr val="EBF1EA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3739896"/>
            <a:ext cx="2057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22A25"/>
                </a:solidFill>
                <a:latin typeface="Aptos"/>
              </a:rPr>
              <a:t>Booking lifecycle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3648456"/>
            <a:ext cx="4114800" cy="621792"/>
          </a:xfrm>
          <a:prstGeom prst="rect">
            <a:avLst/>
          </a:prstGeom>
          <a:solidFill>
            <a:srgbClr val="EBF1EA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0088" y="3739896"/>
            <a:ext cx="3931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Create and update a booking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3648456"/>
            <a:ext cx="4754880" cy="621792"/>
          </a:xfrm>
          <a:prstGeom prst="rect">
            <a:avLst/>
          </a:prstGeom>
          <a:solidFill>
            <a:srgbClr val="EBF1EA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04888" y="3739896"/>
            <a:ext cx="45720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Check status remains consistent across roles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270248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4361688"/>
            <a:ext cx="2057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22A25"/>
                </a:solidFill>
                <a:latin typeface="Aptos"/>
              </a:rPr>
              <a:t>Surplus workflow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4270248"/>
            <a:ext cx="4114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90088" y="4361688"/>
            <a:ext cx="3931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Create listing and match recipient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4270248"/>
            <a:ext cx="4754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04888" y="4361688"/>
            <a:ext cx="45720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Check matching and status updates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892040"/>
            <a:ext cx="2240280" cy="621792"/>
          </a:xfrm>
          <a:prstGeom prst="rect">
            <a:avLst/>
          </a:prstGeom>
          <a:solidFill>
            <a:srgbClr val="EBF1EA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9808" y="4983480"/>
            <a:ext cx="2057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22A25"/>
                </a:solidFill>
                <a:latin typeface="Aptos"/>
              </a:rPr>
              <a:t>Input validation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0360" y="4892040"/>
            <a:ext cx="4114800" cy="621792"/>
          </a:xfrm>
          <a:prstGeom prst="rect">
            <a:avLst/>
          </a:prstGeom>
          <a:solidFill>
            <a:srgbClr val="EBF1EA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990088" y="4983480"/>
            <a:ext cx="3931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Missing or invalid required fields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60" y="4892040"/>
            <a:ext cx="4754880" cy="621792"/>
          </a:xfrm>
          <a:prstGeom prst="rect">
            <a:avLst/>
          </a:prstGeom>
          <a:solidFill>
            <a:srgbClr val="EBF1EA"/>
          </a:solidFill>
          <a:ln>
            <a:solidFill>
              <a:srgbClr val="DE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04888" y="4983480"/>
            <a:ext cx="45720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3312C"/>
                </a:solidFill>
                <a:latin typeface="Aptos"/>
              </a:rPr>
              <a:t>Show clear feedback and prevent invalid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1463040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521208"/>
            <a:ext cx="138988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A25"/>
                </a:solidFill>
                <a:latin typeface="Apto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Show the complete journey—not just individual screens.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94360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2029968"/>
            <a:ext cx="52120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A25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93392"/>
            <a:ext cx="4297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5EBDE"/>
                </a:solidFill>
                <a:latin typeface="Aptos"/>
              </a:rPr>
              <a:t>Login &amp;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50592"/>
            <a:ext cx="42976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Show customer, caterer and admin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94360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45936" y="2029968"/>
            <a:ext cx="52120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A25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93392"/>
            <a:ext cx="4297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5EBDE"/>
                </a:solidFill>
                <a:latin typeface="Aptos"/>
              </a:rPr>
              <a:t>AI 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450592"/>
            <a:ext cx="42976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Enter event needs and review suggested options.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594360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3538728"/>
            <a:ext cx="52120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A25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02152"/>
            <a:ext cx="4297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5EBDE"/>
                </a:solidFill>
                <a:latin typeface="Aptos"/>
              </a:rPr>
              <a:t>Booking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59352"/>
            <a:ext cx="42976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Submit a booking and show its updated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520440"/>
            <a:ext cx="594360" cy="329184"/>
          </a:xfrm>
          <a:prstGeom prst="round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3538728"/>
            <a:ext cx="52120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A25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502152"/>
            <a:ext cx="4297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5EBDE"/>
                </a:solidFill>
                <a:latin typeface="Aptos"/>
              </a:rPr>
              <a:t>Surplus redistribution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959352"/>
            <a:ext cx="42976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Create a surplus listing and show matching/status.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698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FA752"/>
                </a:solidFill>
                <a:latin typeface="Aptos"/>
              </a:rPr>
              <a:t>Demo tip: prepare one sample event, one booking and one surplus listing before the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A6853"/>
                </a:solidFill>
                <a:latin typeface="Aptos"/>
              </a:rPr>
              <a:t>09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A25"/>
                </a:solidFill>
                <a:latin typeface="Aptos"/>
              </a:rPr>
              <a:t>Current Outcomes &amp; Next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65766D"/>
                </a:solidFill>
                <a:latin typeface="Aptos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120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3611880"/>
          </a:xfrm>
          <a:prstGeom prst="rect">
            <a:avLst/>
          </a:prstGeom>
          <a:solidFill>
            <a:srgbClr val="2A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72768"/>
            <a:ext cx="48646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WHAT THE SYSTEM BRINGS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4864608" cy="2953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5766D"/>
                </a:solidFill>
                <a:latin typeface="Aptos"/>
              </a:rPr>
              <a:t>• Role-based dashboards
• AI-supported catering recommendations
• Menu, availability and booking coordination
• Surplus-food listing and matching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73152" cy="3611880"/>
          </a:xfrm>
          <a:prstGeom prst="rect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72768"/>
            <a:ext cx="48646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A25"/>
                </a:solidFill>
                <a:latin typeface="Aptos"/>
              </a:rPr>
              <a:t>NEXT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84248"/>
            <a:ext cx="4864608" cy="2953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5766D"/>
                </a:solidFill>
                <a:latin typeface="Aptos"/>
              </a:rPr>
              <a:t>• Evaluate recommendation relevance with test cases
• Strengthen validation and error handling
• Improve notifications and status visibility
• Test with realistic catering scenarios
• Monitor response time and reliability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457200"/>
            <a:ext cx="1828800" cy="1828800"/>
          </a:xfrm>
          <a:prstGeom prst="ellipse">
            <a:avLst/>
          </a:prstGeom>
          <a:solidFill>
            <a:srgbClr val="2A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2103120"/>
            <a:ext cx="1280160" cy="1280160"/>
          </a:xfrm>
          <a:prstGeom prst="ellipse">
            <a:avLst/>
          </a:prstGeom>
          <a:solidFill>
            <a:srgbClr val="CFA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3200400"/>
            <a:ext cx="2103120" cy="2103120"/>
          </a:xfrm>
          <a:prstGeom prst="ellipse">
            <a:avLst/>
          </a:prstGeom>
          <a:solidFill>
            <a:srgbClr val="1B3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758932"/>
            <a:ext cx="7680960" cy="155119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600" b="1" i="0" dirty="0">
                <a:solidFill>
                  <a:srgbClr val="FFFFFF"/>
                </a:solidFill>
                <a:latin typeface="Freestyle Script" panose="030804020302050B0404" pitchFamily="66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952</Words>
  <Application>Microsoft Office PowerPoint</Application>
  <PresentationFormat>Widescreen</PresentationFormat>
  <Paragraphs>167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Freestyle Script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CaterConnect - Review 3</dc:title>
  <dc:subject>Agentic AI-Powered Catering Booking and Surplus Food Redistribution System</dc:subject>
  <dc:creator>CaterConnect Project Team</dc:creator>
  <cp:keywords/>
  <dc:description>generated using python-pptx</dc:description>
  <cp:lastModifiedBy>Paavana Pranavasri Yalla</cp:lastModifiedBy>
  <cp:revision>3</cp:revision>
  <dcterms:created xsi:type="dcterms:W3CDTF">2013-01-27T09:14:16Z</dcterms:created>
  <dcterms:modified xsi:type="dcterms:W3CDTF">2026-10-29T03:34:35Z</dcterms:modified>
  <cp:category/>
</cp:coreProperties>
</file>